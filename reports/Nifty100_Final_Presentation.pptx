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852160" cy="5852160"/>
          </a:xfrm>
          <a:prstGeom prst="ellipse">
            <a:avLst/>
          </a:prstGeom>
          <a:solidFill>
            <a:srgbClr val="2BB6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2B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 I F T Y   1 0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Financial Intelligence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Final Project Presentation — ETL, Ratio Engine, Screener &amp;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Your Name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Paste GitHub repository link here 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Analysts evaluating the Nifty 100 lacked a single, queryable view across 92 companies — fundamentals, ratios, and peer data sat in disconnected spreadsheets with no automated pipeline, screener, or benchmarking layer.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929384"/>
            <a:ext cx="109728" cy="109728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7" name="Text 5"/>
          <p:cNvSpPr/>
          <p:nvPr/>
        </p:nvSpPr>
        <p:spPr>
          <a:xfrm>
            <a:off x="6537960" y="1801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ETL for 12 source files into a 10-table SQLite warehouse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404872"/>
            <a:ext cx="109728" cy="109728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2768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 50+ KPIs per company-year across all available history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880360"/>
            <a:ext cx="109728" cy="109728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75234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 a 6-preset investment screener with custom thresholds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355848"/>
            <a:ext cx="109728" cy="109728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32278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Rank companies by percentile within 11 peer groups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3831336"/>
            <a:ext cx="109728" cy="109728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 an 8-screen Streamlit dashboard + 16-endpoint REST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306824"/>
            <a:ext cx="109728" cy="109728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1788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 PDF/Excel reporting, NLP insights &amp; KMeans clustering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1D2C4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Delivered in 45 days across 6 sprints: ETL  →  Ratio Engine  →  Screener &amp; Peers  →  Dashboard &amp; Valuation  →  Reports &amp; NLP  →  Clustering, API &amp; QA.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core + 5 supplementary datasets, unified into a single warehouse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146304" cy="146304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037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companies.xlsx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 companies — sector, sub-sector &amp; market-cap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61104" y="178308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17136" y="2039112"/>
            <a:ext cx="146304" cy="146304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2037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profitandloss.xlsx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~1,276 annual P&amp;L records, FY 2010–2024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73568" y="178308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2039112"/>
            <a:ext cx="146304" cy="146304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22037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balancesheet.xlsx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~1,312 annual balance sheet records, FY 2010–2024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01568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657600"/>
            <a:ext cx="146304" cy="146304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cashflow.xlsx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04672" y="4224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~1,187 annual cash flow records, FY 2010–2024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1104" y="3401568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17136" y="3657600"/>
            <a:ext cx="146304" cy="146304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sectors.xlsx / peer_groups.xlsx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17136" y="4224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 broad sectors · 11 peer comparison groups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973568" y="3401568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657600"/>
            <a:ext cx="146304" cy="146304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822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market_cap.xlsx / stock_prices.xlsx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0" y="42245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Valuation multiples · 5,520 simulated price records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92912" y="169164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D2C4C"/>
          </a:solidFill>
          <a:ln/>
        </p:spPr>
      </p:sp>
      <p:sp>
        <p:nvSpPr>
          <p:cNvPr id="4" name="Text 2"/>
          <p:cNvSpPr/>
          <p:nvPr/>
        </p:nvSpPr>
        <p:spPr>
          <a:xfrm>
            <a:off x="892912" y="1691640"/>
            <a:ext cx="1627632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Raw Excel Files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(12 sources)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520544" y="1691640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48560" y="169164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D2C4C"/>
          </a:solidFill>
          <a:ln/>
        </p:spPr>
      </p:sp>
      <p:sp>
        <p:nvSpPr>
          <p:cNvPr id="7" name="Text 5"/>
          <p:cNvSpPr/>
          <p:nvPr/>
        </p:nvSpPr>
        <p:spPr>
          <a:xfrm>
            <a:off x="2648560" y="1691640"/>
            <a:ext cx="1627632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ETL Pipeline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(pandas)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76192" y="1691640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4208" y="169164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D2C4C"/>
          </a:solidFill>
          <a:ln/>
        </p:spPr>
      </p:sp>
      <p:sp>
        <p:nvSpPr>
          <p:cNvPr id="10" name="Text 8"/>
          <p:cNvSpPr/>
          <p:nvPr/>
        </p:nvSpPr>
        <p:spPr>
          <a:xfrm>
            <a:off x="4404208" y="1691640"/>
            <a:ext cx="1627632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SQLite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10-Table Warehouse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1840" y="1691640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59856" y="169164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D2C4C"/>
          </a:solidFill>
          <a:ln/>
        </p:spPr>
      </p:sp>
      <p:sp>
        <p:nvSpPr>
          <p:cNvPr id="13" name="Text 11"/>
          <p:cNvSpPr/>
          <p:nvPr/>
        </p:nvSpPr>
        <p:spPr>
          <a:xfrm>
            <a:off x="6159856" y="1691640"/>
            <a:ext cx="1627632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Ratio Engine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Screener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87488" y="1691640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15504" y="169164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D2C4C"/>
          </a:solidFill>
          <a:ln/>
        </p:spPr>
      </p:sp>
      <p:sp>
        <p:nvSpPr>
          <p:cNvPr id="16" name="Text 14"/>
          <p:cNvSpPr/>
          <p:nvPr/>
        </p:nvSpPr>
        <p:spPr>
          <a:xfrm>
            <a:off x="7915504" y="1691640"/>
            <a:ext cx="1627632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FastAPI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43136" y="1691640"/>
            <a:ext cx="146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71152" y="169164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2B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9671152" y="1691640"/>
            <a:ext cx="1627632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Reports, NLP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&amp; Clustering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Warehouse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tables: companies, profitandloss, balancesheet, cashflow, analysis, documents, prosandcons, sectors, market_cap, financial_ratios.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3246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63640" y="36576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pandas · NumPy · SQLite · scikit-learn · Streamlit · FastAPI · ReportLab · Plotly · pytest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Ratio Engine —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50+ KPIs computed for 92 companies across all available years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Return on Equity (ROE)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78308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net_profit / (equity + reserves) × 100 — None if equity ≤ 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96312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Debt-to-Equity (D/E)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496312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borrowings / (equity + reserves) — returns 0 for debt-free companies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09544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Interest Coverage (ICR)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209544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(operating_profit + other_income) / interest — labelled 'Debt Free' if interest = 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922776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CAGR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922776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sign-based edge cases handled: TURNAROUND · DECLINE_TO_LOSS · BOTH_NEGATIVE · ZERO_BASE · INSUFFICIENT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36008"/>
            <a:ext cx="11091672" cy="585216"/>
          </a:xfrm>
          <a:prstGeom prst="roundRect">
            <a:avLst>
              <a:gd name="adj" fmla="val 125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636008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Allocation Classifier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4636008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8-pattern label derived from the sign of CFO, CFI and CFF for every company-year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4589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financial_ratios table: 1,184+ rows across 14+ KPI columns per company-year.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Screener &amp; Peer Comparison Engine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29584" cy="1170432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68096" y="176479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Compounder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68096" y="214884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ROE &gt; 15%, D/E &lt; 1, FCF &gt; 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61104" y="1600200"/>
            <a:ext cx="3529584" cy="1170432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76479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Value Pick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P/E &lt; 20, P/B &lt; 3, Div. Yield &gt; 1%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973568" y="1600200"/>
            <a:ext cx="3529584" cy="1170432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93024" y="176479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Accelerator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193024" y="2148840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 CAGR &gt; 20%, Rev. CAGR &gt; 15%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53512"/>
            <a:ext cx="3529584" cy="1170432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" y="311810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Dividend Champion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8096" y="350215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Div. Yield &gt; 2%, Payout &lt; 80%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61104" y="2953512"/>
            <a:ext cx="3529584" cy="1170432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311810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Debt-Free Blue Chip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80560" y="350215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D/E = 0, ROE &gt; 12%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73568" y="2953512"/>
            <a:ext cx="3529584" cy="1170432"/>
          </a:xfrm>
          <a:prstGeom prst="roundRect">
            <a:avLst>
              <a:gd name="adj" fmla="val 625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93024" y="3118104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Turnaround Watch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93024" y="3502152"/>
            <a:ext cx="3090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Rev. CAGR(3yr) &gt; 10%, FCF improving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4439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Composite Quality Score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80974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35% Profitability   ·   30% Cash Quality   ·   20% Growth   ·   15% Leverage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937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Peer percentile ranking computed across all 11 peer groups for 10 metrics each.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— Industry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AUM-equivalent KPIs, sector breakdown, and top performers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96012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9050">
            <a:solidFill>
              <a:srgbClr val="2B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737360"/>
            <a:ext cx="9601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Insert dashboard screenshot — Industry Overview screen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5824728"/>
            <a:ext cx="91440" cy="9144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5687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KPI tiles: Total Companies, Avg. ROE, Median P/E, Debt-Free Count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5824728"/>
            <a:ext cx="91440" cy="9144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9" name="Text 7"/>
          <p:cNvSpPr/>
          <p:nvPr/>
        </p:nvSpPr>
        <p:spPr>
          <a:xfrm>
            <a:off x="4681728" y="5687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Sector breakdown donut across 11 broad sectors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5824728"/>
            <a:ext cx="91440" cy="9144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5687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Top-5 companies by composite quality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 — Screener &amp; Peer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filtering across 15+ metrics with instant peer benchmarking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96012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9050">
            <a:solidFill>
              <a:srgbClr val="2B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737360"/>
            <a:ext cx="96012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Insert dashboard screenshot — Screener &amp; Peer Comparison screen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5824728"/>
            <a:ext cx="91440" cy="9144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7" name="Text 5"/>
          <p:cNvSpPr/>
          <p:nvPr/>
        </p:nvSpPr>
        <p:spPr>
          <a:xfrm>
            <a:off x="1481328" y="5687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metric sliders + 6 one-click preset buttons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5824728"/>
            <a:ext cx="91440" cy="9144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9" name="Text 7"/>
          <p:cNvSpPr/>
          <p:nvPr/>
        </p:nvSpPr>
        <p:spPr>
          <a:xfrm>
            <a:off x="4681728" y="5687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results table with CSV export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80960" y="5824728"/>
            <a:ext cx="91440" cy="9144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882128" y="5687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9D2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Radar chart: company vs. peer group average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 &amp; Intelligence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document generation, qualitative insight, and archetype discovery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2199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990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 Tearsheets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2-page PDF per company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96596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22199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71800" y="2990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Sector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3337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Median KPIs + company list per sector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0" y="196596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20640" y="222199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257800" y="2990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Portfolio Summary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3337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92 companies, 1 page each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196596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222199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543800" y="2990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Pros/Cons Rules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3337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pro + 12 con rules, confidence-scored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692640" y="1965960"/>
            <a:ext cx="2121408" cy="18288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2640" y="2221992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829800" y="2990088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Cluster Archetypes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3337560"/>
            <a:ext cx="1847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3708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KMeans on ROE, D/E, growth &amp; margin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636776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Sector-relative leverage carve-out — Financials show structurally higher D/E; benchmarking within sector avoids false high-leverage flags.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80720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Debt-free compounders cluster by sector — the lowest capital-intensity sectors (IT, FMCG) show the highest concentration of D/E = 0 companies.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977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Capital allocation surfaces hidden risk — the 8-pattern classifier flags companies raising financing while operations burn cash well before headline ratios move.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2B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514807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7EC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Peer-relative rank changes the story — companies with middling absolute KPIs often rank top-quartile once compared only within their own peer group.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Testing &amp; Final Sign-Off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acceptance gate verified before Day-45 project sign-off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514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Pytest Tests Collected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21945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2514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4904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 Failures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21945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2514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 / 20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Acceptance Gates Passed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81160" y="21945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3F6FB"/>
          </a:solidFill>
          <a:ln/>
          <a:effectLst>
            <a:outerShdw sx="100000" sy="100000" kx="0" ky="0" algn="bl" rotWithShape="0" blurRad="127000" dist="38100" dir="5400000">
              <a:srgbClr val="0B1526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81160" y="25146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B6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 / 23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418320" y="34290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1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Deliverables Complete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852160" cy="5852160"/>
          </a:xfrm>
          <a:prstGeom prst="ellipse">
            <a:avLst/>
          </a:prstGeom>
          <a:solidFill>
            <a:srgbClr val="2BB6D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120640"/>
            <a:ext cx="3840480" cy="3840480"/>
          </a:xfrm>
          <a:prstGeom prst="ellipse">
            <a:avLst/>
          </a:prstGeom>
          <a:solidFill>
            <a:srgbClr val="2BB6D4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Nifty 100 Financial Intelligence Platform — Final Project Presentation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Your Name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709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A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 Paste GitHub repository link here 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2026-07-28T18:09:46Z</dcterms:created>
  <dcterms:modified xsi:type="dcterms:W3CDTF">2026-07-28T18:09:46Z</dcterms:modified>
</cp:coreProperties>
</file>